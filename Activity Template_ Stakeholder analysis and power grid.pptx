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Roboto Medium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78EF24-D1E2-4953-982E-EA400AB5A6D6}">
  <a:tblStyle styleId="{8678EF24-D1E2-4953-982E-EA400AB5A6D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font" Target="fonts/RobotoMedium-regular.fntdata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RobotoMedium-italic.fntdata"/><Relationship Id="rId14" Type="http://schemas.openxmlformats.org/officeDocument/2006/relationships/font" Target="fonts/RobotoMedium-bold.fntdata"/><Relationship Id="rId16" Type="http://schemas.openxmlformats.org/officeDocument/2006/relationships/font" Target="fonts/Roboto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234627cd3_0_1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d234627cd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234627cd3_0_1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d234627cd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61b9f623f_0_1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e61b9f623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e61b9f623f_0_1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e61b9f623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e61b9f623f_0_2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e61b9f623f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25"/>
          <p:cNvGraphicFramePr/>
          <p:nvPr/>
        </p:nvGraphicFramePr>
        <p:xfrm>
          <a:off x="0" y="42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{8678EF24-D1E2-4953-982E-EA400AB5A6D6}</a:tableStyleId>
              </a:tblPr>
              <a:tblGrid>
                <a:gridCol w="1125900"/>
                <a:gridCol w="1189450"/>
                <a:gridCol w="1770000"/>
                <a:gridCol w="1887550"/>
                <a:gridCol w="705325"/>
                <a:gridCol w="728075"/>
                <a:gridCol w="1737675"/>
              </a:tblGrid>
              <a:tr h="82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 u="none" cap="none" strike="noStrike"/>
                        <a:t>Stakeholder</a:t>
                      </a:r>
                      <a:endParaRPr sz="8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Role (Related to project)</a:t>
                      </a:r>
                      <a:endParaRPr sz="8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Involvement</a:t>
                      </a:r>
                      <a:endParaRPr sz="8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Impact</a:t>
                      </a:r>
                      <a:endParaRPr sz="11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/>
                        <a:t>Power or Influence (H/M/L)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000"/>
                        <a:t>Interest (H/M/L)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" sz="1100"/>
                        <a:t>Engagement</a:t>
                      </a:r>
                      <a:endParaRPr sz="8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73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Director of product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Project sponsor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Participation: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Signs off on high-level decisions and acts as an escalation resource for the team; highly invested but not involved day-to-day.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Resources: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Decision-making authority, strategic corporate vision, and organizational influence.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Impact on Needs: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Hits high-level product expansion targets and drives company growth. Success validates their strategic choices.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Potential Resistance: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None expected. They are the project sponsor and fully back the launch.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High (H)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Medium (M)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Frequency: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Regularly (weekly or biweekly at key milestones).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Form: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High-level project status reports, milestone sign-offs, and brief alignment meetings to review high-level decisions without overwhelming them with daily operations.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Landscape Designer/Web Designer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Project team member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Participation: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Actively builds the web infrastructure and shapes the plant service design.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Resources: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Technical web design skills, deep botanical/plant knowledge, and strong cross-departmental internal relationships.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Impact on Needs: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Highly affected. The launch may force their dual role to pivot away from traditional landscape design toward managing this new service.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Potential Resistance: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High Risk.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If they are unhappy about their daily responsibilities changing, they might resist. Because they have strong internal relationships across the company, their lack of buy-in could easily influence others.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High (H)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High (H)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Frequency: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Daily / Highly frequent.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Form: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Frequent updates through daily stand-ups, direct collaboration chats, and 1-on-1 consultations. This keeps their technical tasks on track and allows you to actively address any resistance or concerns regarding their shifting role.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Existing clients and their employees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Office Green customer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Participation: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Acts as the core target audience and early testers of the new service.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Resources: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Critical user feedback, customer experience insights, and direct data on customer needs and pain points.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Impact on Needs: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Provides a brand-new service to enhance their office environments, though interest levels will vary depending on individual client needs.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Potential Resistance: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Low risk overall. Lower-interest clients won't actively resist </a:t>
                      </a:r>
                      <a:r>
                        <a:rPr i="1" lang="en" sz="1100">
                          <a:solidFill>
                            <a:schemeClr val="dk1"/>
                          </a:solidFill>
                        </a:rPr>
                        <a:t>unless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the launch is resource-draining or negatively impacts the existing product lines they currently pay for.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Medium (M)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Medium (M)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Frequency: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Semi-regularly.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Form: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Semi-regular consultations, feedback surveys, and beta-testing check-ins. This keeps them informed about the upcoming service while leveraging their insights to improve the final user experience.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3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Office Green’s investors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Secondary stakeholder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uninvolved: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Backs the project from a distance; uninvolved in day-to-day work but tracks overall launch success.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Resources: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Financial capital, funding resources, and long-term business backing.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Impact on Needs: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Directly influences the financial performance and value of their investment in the company.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Potential Resistance: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None at this stage. They want the service to succeed financially and are completely hands-off prior to the launch.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Medium (M)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Low (L)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Frequency: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Rarely (milestone-based).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Form: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Executive summary newsletters or high-level progress reports delivered monthly or quarterly. They only need to know that their investment is safe and on track for a successful launch.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Office Green’s receptionist </a:t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Office Green employee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Participation: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Answers incoming client questions and routes inquiries closer to and after the official launch.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Resources: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Direct communication channel with customers, frontline service skills, and general company awareness.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Impact on Needs:</a:t>
                      </a:r>
                      <a:r>
                        <a:rPr lang="en" sz="1100"/>
                        <a:t> Requires them to learn new product details and take on additional customer support/inquiry handling as the launch approaches.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/>
                        <a:t>Potential Resistance:</a:t>
                      </a:r>
                      <a:r>
                        <a:rPr lang="en" sz="1100"/>
                        <a:t> None. They currently have no concerns or opposition to the project.</a:t>
                      </a:r>
                      <a:endParaRPr sz="1100"/>
                    </a:p>
                  </a:txBody>
                  <a:tcPr marT="76200" marB="76200" marR="114300" marL="114300">
                    <a:lnL cap="flat" cmpd="sng" w="63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Low (L)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6350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/>
                        <a:t>Low (L) </a:t>
                      </a:r>
                      <a:endParaRPr sz="10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Frequency: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Rarely / Just-in-time.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Form: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A concise briefing memo and a short training session closer to the official launch date. They don't need ongoing details during development, just the essential facts right before they start handling customer inquiries.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25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285F4"/>
                </a:solidFill>
                <a:highlight>
                  <a:schemeClr val="lt1"/>
                </a:highlight>
              </a:rPr>
              <a:t>Understanding stakeholders (stakeholder analysis)</a:t>
            </a:r>
            <a:endParaRPr b="1" sz="2000">
              <a:solidFill>
                <a:srgbClr val="4285F4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Keep satisfied (high priority)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06" name="Google Shape;106;p26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Manage closely (high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07" name="Google Shape;107;p26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Monitor (minimum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08" name="Google Shape;108;p26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09" name="Google Shape;109;p26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AA84F"/>
                </a:solidFill>
              </a:rPr>
              <a:t>Power</a:t>
            </a:r>
            <a:endParaRPr b="1" i="0" sz="1600" u="none" cap="none" strike="noStrike">
              <a:solidFill>
                <a:srgbClr val="6AA84F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high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low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cxnSp>
        <p:nvCxnSpPr>
          <p:cNvPr id="112" name="Google Shape;112;p26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26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26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med</a:t>
            </a:r>
            <a:endParaRPr b="1" i="0" sz="1500" u="none" cap="none" strike="noStrike">
              <a:solidFill>
                <a:srgbClr val="666666"/>
              </a:solidFill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high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low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cxnSp>
        <p:nvCxnSpPr>
          <p:cNvPr id="117" name="Google Shape;117;p26"/>
          <p:cNvCxnSpPr>
            <a:stCxn id="114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26"/>
          <p:cNvCxnSpPr>
            <a:stCxn id="114" idx="1"/>
            <a:endCxn id="116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" name="Google Shape;119;p26"/>
          <p:cNvSpPr txBox="1"/>
          <p:nvPr/>
        </p:nvSpPr>
        <p:spPr>
          <a:xfrm>
            <a:off x="-1005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4285F4"/>
                </a:solidFill>
              </a:rPr>
              <a:t>Prioritizing </a:t>
            </a:r>
            <a:r>
              <a:rPr b="1" lang="en" sz="2000">
                <a:solidFill>
                  <a:srgbClr val="4285F4"/>
                </a:solidFill>
              </a:rPr>
              <a:t>s</a:t>
            </a:r>
            <a:r>
              <a:rPr b="1" i="0" lang="en" sz="2000" u="none" cap="none" strike="noStrike">
                <a:solidFill>
                  <a:srgbClr val="4285F4"/>
                </a:solidFill>
              </a:rPr>
              <a:t>takeholders (power grid)</a:t>
            </a:r>
            <a:endParaRPr b="1" i="0" sz="1400" u="none" cap="none" strike="noStrike">
              <a:solidFill>
                <a:srgbClr val="4285F4"/>
              </a:solidFill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2680300" y="2224289"/>
            <a:ext cx="756900" cy="342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Investors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5001480" y="2345663"/>
            <a:ext cx="879600" cy="3429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Clients &amp; Employees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2672800" y="4077175"/>
            <a:ext cx="924300" cy="3429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Receptionist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4" name="Google Shape;124;p26"/>
          <p:cNvSpPr/>
          <p:nvPr/>
        </p:nvSpPr>
        <p:spPr>
          <a:xfrm>
            <a:off x="190600" y="932913"/>
            <a:ext cx="1773900" cy="88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Drag each stakeholder’s box to the appropriate place on the power-interest grid</a:t>
            </a:r>
            <a:endParaRPr/>
          </a:p>
        </p:txBody>
      </p:sp>
      <p:sp>
        <p:nvSpPr>
          <p:cNvPr id="125" name="Google Shape;125;p26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26" name="Google Shape;126;p26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med</a:t>
            </a:r>
            <a:endParaRPr b="1" sz="1500" u="none" cap="none" strike="noStrike">
              <a:solidFill>
                <a:srgbClr val="666666"/>
              </a:solidFill>
            </a:endParaRPr>
          </a:p>
        </p:txBody>
      </p:sp>
      <p:sp>
        <p:nvSpPr>
          <p:cNvPr id="127" name="Google Shape;127;p26"/>
          <p:cNvSpPr/>
          <p:nvPr/>
        </p:nvSpPr>
        <p:spPr>
          <a:xfrm>
            <a:off x="6416552" y="1245088"/>
            <a:ext cx="1007100" cy="4311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Landscape Designer/Web Designer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28" name="Google Shape;128;p26"/>
          <p:cNvSpPr/>
          <p:nvPr/>
        </p:nvSpPr>
        <p:spPr>
          <a:xfrm>
            <a:off x="5051425" y="137000"/>
            <a:ext cx="808800" cy="575700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Director of Product</a:t>
            </a:r>
            <a:endParaRPr b="1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/>
          <p:nvPr/>
        </p:nvSpPr>
        <p:spPr>
          <a:xfrm>
            <a:off x="574000" y="2380575"/>
            <a:ext cx="1007100" cy="4461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Landscape Designer/Web Designer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Keep satisfied (high priority)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Manage closely (high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Monitor (minimum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37" name="Google Shape;137;p27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38" name="Google Shape;138;p27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Power</a:t>
            </a:r>
            <a:endParaRPr b="0" i="0" sz="1600" u="none" cap="none" strike="noStrike">
              <a:solidFill>
                <a:srgbClr val="6AA84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high</a:t>
            </a:r>
            <a:endParaRPr b="0" i="0" sz="14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low</a:t>
            </a:r>
            <a:endParaRPr b="0" i="0" sz="14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1" name="Google Shape;141;p27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p27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p27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med</a:t>
            </a:r>
            <a:endParaRPr b="1" i="0" sz="1500" u="none" cap="none" strike="noStrike">
              <a:solidFill>
                <a:srgbClr val="666666"/>
              </a:solidFill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high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low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cxnSp>
        <p:nvCxnSpPr>
          <p:cNvPr id="146" name="Google Shape;146;p27"/>
          <p:cNvCxnSpPr>
            <a:stCxn id="143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27"/>
          <p:cNvCxnSpPr>
            <a:stCxn id="143" idx="1"/>
            <a:endCxn id="145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27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Director of Product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Investors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Clients &amp; Employees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Receptionist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54" name="Google Shape;154;p27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med</a:t>
            </a:r>
            <a:endParaRPr b="0" i="0" sz="15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4285F4"/>
                </a:solidFill>
              </a:rPr>
              <a:t>Prioritizing </a:t>
            </a:r>
            <a:r>
              <a:rPr b="1" lang="en" sz="2000">
                <a:solidFill>
                  <a:srgbClr val="4285F4"/>
                </a:solidFill>
              </a:rPr>
              <a:t>s</a:t>
            </a:r>
            <a:r>
              <a:rPr b="1" i="0" lang="en" sz="2000" u="none" cap="none" strike="noStrike">
                <a:solidFill>
                  <a:srgbClr val="4285F4"/>
                </a:solidFill>
              </a:rPr>
              <a:t>takeholders (power grid)</a:t>
            </a:r>
            <a:endParaRPr b="1" i="0" sz="1400" u="none" cap="none" strike="noStrike">
              <a:solidFill>
                <a:srgbClr val="4285F4"/>
              </a:solidFill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235150" y="522300"/>
            <a:ext cx="8795700" cy="4639800"/>
          </a:xfrm>
          <a:prstGeom prst="rect">
            <a:avLst/>
          </a:prstGeom>
          <a:solidFill>
            <a:srgbClr val="FFFFFF">
              <a:alpha val="8652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/>
          <p:nvPr/>
        </p:nvSpPr>
        <p:spPr>
          <a:xfrm>
            <a:off x="574000" y="2380575"/>
            <a:ext cx="1007100" cy="4461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Landscape Designer/Web Designer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Keep satisfied (high priority)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Manage closely (high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Monitor (minimum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76" name="Google Shape;176;p28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Power</a:t>
            </a:r>
            <a:endParaRPr b="0" i="0" sz="1600" u="none" cap="none" strike="noStrike">
              <a:solidFill>
                <a:srgbClr val="6AA84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high</a:t>
            </a:r>
            <a:endParaRPr b="0" i="0" sz="14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low</a:t>
            </a:r>
            <a:endParaRPr b="0" i="0" sz="14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79" name="Google Shape;179;p28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" name="Google Shape;180;p28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" name="Google Shape;181;p28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med</a:t>
            </a:r>
            <a:endParaRPr b="1" i="0" sz="1500" u="none" cap="none" strike="noStrike">
              <a:solidFill>
                <a:srgbClr val="666666"/>
              </a:solidFill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high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low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cxnSp>
        <p:nvCxnSpPr>
          <p:cNvPr id="184" name="Google Shape;184;p28"/>
          <p:cNvCxnSpPr>
            <a:stCxn id="181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28"/>
          <p:cNvCxnSpPr>
            <a:stCxn id="181" idx="1"/>
            <a:endCxn id="183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28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Director of Product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Investors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Clients &amp; Employees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Receptionist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1" name="Google Shape;191;p28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192" name="Google Shape;192;p28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med</a:t>
            </a:r>
            <a:endParaRPr b="0" i="0" sz="15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4285F4"/>
                </a:solidFill>
              </a:rPr>
              <a:t>Prioritizing </a:t>
            </a:r>
            <a:r>
              <a:rPr b="1" lang="en" sz="2000">
                <a:solidFill>
                  <a:srgbClr val="4285F4"/>
                </a:solidFill>
              </a:rPr>
              <a:t>s</a:t>
            </a:r>
            <a:r>
              <a:rPr b="1" i="0" lang="en" sz="2000" u="none" cap="none" strike="noStrike">
                <a:solidFill>
                  <a:srgbClr val="4285F4"/>
                </a:solidFill>
              </a:rPr>
              <a:t>takeholders (power grid)</a:t>
            </a:r>
            <a:endParaRPr b="1" i="0" sz="1400" u="none" cap="none" strike="noStrike">
              <a:solidFill>
                <a:srgbClr val="4285F4"/>
              </a:solidFill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395200" y="522300"/>
            <a:ext cx="8795700" cy="4621200"/>
          </a:xfrm>
          <a:prstGeom prst="rect">
            <a:avLst/>
          </a:prstGeom>
          <a:solidFill>
            <a:srgbClr val="FFFFFF">
              <a:alpha val="8652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8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201" name="Google Shape;201;p28"/>
          <p:cNvSpPr/>
          <p:nvPr/>
        </p:nvSpPr>
        <p:spPr>
          <a:xfrm>
            <a:off x="2887900" y="1045988"/>
            <a:ext cx="808800" cy="342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Director of Product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/>
          <p:nvPr/>
        </p:nvSpPr>
        <p:spPr>
          <a:xfrm>
            <a:off x="574000" y="2380575"/>
            <a:ext cx="1007100" cy="4461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Landscape Designer/Web Designer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Keep satisfied (high priority)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Manage closely (high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666666"/>
                </a:solidFill>
              </a:rPr>
              <a:t>Monitor (minimum effort)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Show consideration</a:t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15" name="Google Shape;215;p29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Roboto Medium"/>
                <a:ea typeface="Roboto Medium"/>
                <a:cs typeface="Roboto Medium"/>
                <a:sym typeface="Roboto Medium"/>
              </a:rPr>
              <a:t>Power</a:t>
            </a:r>
            <a:endParaRPr b="0" i="0" sz="1600" u="none" cap="none" strike="noStrike">
              <a:solidFill>
                <a:srgbClr val="6AA84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high</a:t>
            </a:r>
            <a:endParaRPr b="0" i="0" sz="14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low</a:t>
            </a:r>
            <a:endParaRPr b="0" i="0" sz="14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218" name="Google Shape;218;p29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" name="Google Shape;220;p29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med</a:t>
            </a:r>
            <a:endParaRPr b="1" i="0" sz="1500" u="none" cap="none" strike="noStrike">
              <a:solidFill>
                <a:srgbClr val="666666"/>
              </a:solidFill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high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666666"/>
                </a:solidFill>
              </a:rPr>
              <a:t>low</a:t>
            </a:r>
            <a:endParaRPr b="1" i="0" sz="1400" u="none" cap="none" strike="noStrike">
              <a:solidFill>
                <a:srgbClr val="666666"/>
              </a:solidFill>
            </a:endParaRPr>
          </a:p>
        </p:txBody>
      </p:sp>
      <p:cxnSp>
        <p:nvCxnSpPr>
          <p:cNvPr id="223" name="Google Shape;223;p29"/>
          <p:cNvCxnSpPr>
            <a:stCxn id="220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p29"/>
          <p:cNvCxnSpPr>
            <a:stCxn id="220" idx="1"/>
            <a:endCxn id="222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29"/>
          <p:cNvSpPr/>
          <p:nvPr/>
        </p:nvSpPr>
        <p:spPr>
          <a:xfrm>
            <a:off x="673150" y="1909088"/>
            <a:ext cx="808800" cy="342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Director of Product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699100" y="3478125"/>
            <a:ext cx="756900" cy="342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Investors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637750" y="2955263"/>
            <a:ext cx="879600" cy="3429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Clients &amp; Employees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615400" y="4000975"/>
            <a:ext cx="924300" cy="3429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OG Receptionist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0" name="Google Shape;230;p29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9900"/>
                </a:solidFill>
              </a:rPr>
              <a:t>Interest</a:t>
            </a:r>
            <a:endParaRPr b="1"/>
          </a:p>
        </p:txBody>
      </p:sp>
      <p:sp>
        <p:nvSpPr>
          <p:cNvPr id="231" name="Google Shape;231;p29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Roboto Medium"/>
                <a:ea typeface="Roboto Medium"/>
                <a:cs typeface="Roboto Medium"/>
                <a:sym typeface="Roboto Medium"/>
              </a:rPr>
              <a:t>med</a:t>
            </a:r>
            <a:endParaRPr b="0" i="0" sz="1500" u="none" cap="none" strike="noStrike">
              <a:solidFill>
                <a:srgbClr val="66666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122075" y="155350"/>
            <a:ext cx="194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CCCCCC"/>
                </a:solidFill>
              </a:rPr>
              <a:t>EXAMPLE</a:t>
            </a:r>
            <a:endParaRPr b="1">
              <a:solidFill>
                <a:srgbClr val="CCCCCC"/>
              </a:solidFill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-990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4285F4"/>
                </a:solidFill>
              </a:rPr>
              <a:t>Prioritizing </a:t>
            </a:r>
            <a:r>
              <a:rPr b="1" lang="en" sz="2000">
                <a:solidFill>
                  <a:srgbClr val="4285F4"/>
                </a:solidFill>
              </a:rPr>
              <a:t>s</a:t>
            </a:r>
            <a:r>
              <a:rPr b="1" i="0" lang="en" sz="2000" u="none" cap="none" strike="noStrike">
                <a:solidFill>
                  <a:srgbClr val="4285F4"/>
                </a:solidFill>
              </a:rPr>
              <a:t>takeholders (power grid)</a:t>
            </a:r>
            <a:endParaRPr b="1" i="0" sz="1400" u="none" cap="none" strike="noStrike">
              <a:solidFill>
                <a:srgbClr val="4285F4"/>
              </a:solidFill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280300" y="522300"/>
            <a:ext cx="8795700" cy="4567800"/>
          </a:xfrm>
          <a:prstGeom prst="rect">
            <a:avLst/>
          </a:prstGeom>
          <a:solidFill>
            <a:srgbClr val="FFFFFF">
              <a:alpha val="86520"/>
            </a:srgbClr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9"/>
          <p:cNvSpPr/>
          <p:nvPr/>
        </p:nvSpPr>
        <p:spPr>
          <a:xfrm>
            <a:off x="154175" y="932913"/>
            <a:ext cx="1877700" cy="88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</a:rPr>
              <a:t>Pro tip: </a:t>
            </a:r>
            <a:r>
              <a:rPr lang="en" sz="1100">
                <a:solidFill>
                  <a:srgbClr val="000000"/>
                </a:solidFill>
              </a:rPr>
              <a:t>You can move stakeholders higher or lower (or more to the left or right) within each box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2642351" y="705973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43" name="Google Shape;243;p29"/>
          <p:cNvSpPr txBox="1"/>
          <p:nvPr/>
        </p:nvSpPr>
        <p:spPr>
          <a:xfrm>
            <a:off x="5459946" y="257594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66666"/>
              </a:solidFill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2887900" y="1045988"/>
            <a:ext cx="808800" cy="342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Director of Product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4823925" y="2056238"/>
            <a:ext cx="808800" cy="3429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Director of Product</a:t>
            </a:r>
            <a:endParaRPr b="1" sz="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